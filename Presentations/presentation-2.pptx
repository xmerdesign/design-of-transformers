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6" r:id="rId5"/>
    <p:sldId id="268" r:id="rId6"/>
    <p:sldId id="269" r:id="rId7"/>
    <p:sldId id="270" r:id="rId8"/>
    <p:sldId id="271" r:id="rId9"/>
    <p:sldId id="272" r:id="rId10"/>
    <p:sldId id="262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248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BEE-23A8-4423-9B79-7D6A6241FAE7}" type="datetimeFigureOut">
              <a:rPr lang="en-US" smtClean="0"/>
              <a:t>29-Oct-19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2495-15B9-4F7B-BC2D-223560DB7F7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BEE-23A8-4423-9B79-7D6A6241FAE7}" type="datetimeFigureOut">
              <a:rPr lang="en-US" smtClean="0"/>
              <a:t>29-Oct-19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2495-15B9-4F7B-BC2D-223560DB7F7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BEE-23A8-4423-9B79-7D6A6241FAE7}" type="datetimeFigureOut">
              <a:rPr lang="en-US" smtClean="0"/>
              <a:t>29-Oct-19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2495-15B9-4F7B-BC2D-223560DB7F7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BEE-23A8-4423-9B79-7D6A6241FAE7}" type="datetimeFigureOut">
              <a:rPr lang="en-US" smtClean="0"/>
              <a:t>29-Oct-19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2495-15B9-4F7B-BC2D-223560DB7F7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BEE-23A8-4423-9B79-7D6A6241FAE7}" type="datetimeFigureOut">
              <a:rPr lang="en-US" smtClean="0"/>
              <a:t>29-Oct-19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2495-15B9-4F7B-BC2D-223560DB7F7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BEE-23A8-4423-9B79-7D6A6241FAE7}" type="datetimeFigureOut">
              <a:rPr lang="en-US" smtClean="0"/>
              <a:t>29-Oct-19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2495-15B9-4F7B-BC2D-223560DB7F7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BEE-23A8-4423-9B79-7D6A6241FAE7}" type="datetimeFigureOut">
              <a:rPr lang="en-US" smtClean="0"/>
              <a:t>29-Oct-19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2495-15B9-4F7B-BC2D-223560DB7F7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BEE-23A8-4423-9B79-7D6A6241FAE7}" type="datetimeFigureOut">
              <a:rPr lang="en-US" smtClean="0"/>
              <a:t>29-Oct-19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2495-15B9-4F7B-BC2D-223560DB7F7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BEE-23A8-4423-9B79-7D6A6241FAE7}" type="datetimeFigureOut">
              <a:rPr lang="en-US" smtClean="0"/>
              <a:t>29-Oct-19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2495-15B9-4F7B-BC2D-223560DB7F7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BEE-23A8-4423-9B79-7D6A6241FAE7}" type="datetimeFigureOut">
              <a:rPr lang="en-US" smtClean="0"/>
              <a:t>29-Oct-19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2495-15B9-4F7B-BC2D-223560DB7F7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83BEE-23A8-4423-9B79-7D6A6241FAE7}" type="datetimeFigureOut">
              <a:rPr lang="en-US" smtClean="0"/>
              <a:t>29-Oct-19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2495-15B9-4F7B-BC2D-223560DB7F7A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69000"/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87383BEE-23A8-4423-9B79-7D6A6241FAE7}" type="datetimeFigureOut">
              <a:rPr lang="en-US" smtClean="0"/>
              <a:t>29-Oct-19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5E3D2495-15B9-4F7B-BC2D-223560DB7F7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764704"/>
            <a:ext cx="7776864" cy="1152128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Designing and Manufacturing of 1KVA Single phase Tapped Shell type Transformer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3356992"/>
            <a:ext cx="6400800" cy="3024336"/>
          </a:xfrm>
        </p:spPr>
        <p:txBody>
          <a:bodyPr>
            <a:normAutofit/>
          </a:bodyPr>
          <a:lstStyle/>
          <a:p>
            <a:pPr algn="l"/>
            <a:r>
              <a:rPr lang="en-GB" b="1" dirty="0">
                <a:solidFill>
                  <a:schemeClr val="tx1"/>
                </a:solidFill>
              </a:rPr>
              <a:t>Group Members</a:t>
            </a:r>
          </a:p>
          <a:p>
            <a:pPr algn="l"/>
            <a:r>
              <a:rPr lang="en-GB" dirty="0" err="1">
                <a:solidFill>
                  <a:schemeClr val="tx1"/>
                </a:solidFill>
              </a:rPr>
              <a:t>Kukil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Saikia</a:t>
            </a:r>
            <a:endParaRPr lang="en-GB" dirty="0">
              <a:solidFill>
                <a:schemeClr val="tx1"/>
              </a:solidFill>
            </a:endParaRPr>
          </a:p>
          <a:p>
            <a:pPr algn="l"/>
            <a:r>
              <a:rPr lang="en-GB" dirty="0" err="1">
                <a:solidFill>
                  <a:schemeClr val="tx1"/>
                </a:solidFill>
              </a:rPr>
              <a:t>Kukil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Kashyap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Borgohain</a:t>
            </a:r>
            <a:endParaRPr lang="en-GB" dirty="0">
              <a:solidFill>
                <a:schemeClr val="tx1"/>
              </a:solidFill>
            </a:endParaRPr>
          </a:p>
          <a:p>
            <a:pPr algn="l"/>
            <a:r>
              <a:rPr lang="en-GB" dirty="0" err="1">
                <a:solidFill>
                  <a:schemeClr val="tx1"/>
                </a:solidFill>
              </a:rPr>
              <a:t>Aditya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Raktim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Baruah</a:t>
            </a:r>
            <a:r>
              <a:rPr lang="en-GB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GB" dirty="0" err="1">
                <a:solidFill>
                  <a:schemeClr val="tx1"/>
                </a:solidFill>
              </a:rPr>
              <a:t>Giri</a:t>
            </a:r>
            <a:r>
              <a:rPr lang="en-GB" dirty="0">
                <a:solidFill>
                  <a:schemeClr val="tx1"/>
                </a:solidFill>
              </a:rPr>
              <a:t> Raj </a:t>
            </a:r>
            <a:r>
              <a:rPr lang="en-GB" dirty="0" err="1">
                <a:solidFill>
                  <a:schemeClr val="tx1"/>
                </a:solidFill>
              </a:rPr>
              <a:t>Gogoi</a:t>
            </a:r>
            <a:endParaRPr lang="en-GB" dirty="0">
              <a:solidFill>
                <a:schemeClr val="tx1"/>
              </a:solidFill>
            </a:endParaRPr>
          </a:p>
          <a:p>
            <a:pPr algn="l"/>
            <a:endParaRPr lang="en-GB" dirty="0">
              <a:solidFill>
                <a:schemeClr val="tx1"/>
              </a:solidFill>
            </a:endParaRPr>
          </a:p>
          <a:p>
            <a:pPr algn="l"/>
            <a:r>
              <a:rPr lang="en-GB" b="1" dirty="0">
                <a:solidFill>
                  <a:schemeClr val="tx1"/>
                </a:solidFill>
              </a:rPr>
              <a:t>Guide Name</a:t>
            </a:r>
          </a:p>
          <a:p>
            <a:pPr algn="l"/>
            <a:r>
              <a:rPr lang="en-GB" dirty="0" err="1">
                <a:solidFill>
                  <a:schemeClr val="tx1"/>
                </a:solidFill>
              </a:rPr>
              <a:t>Dr.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Barnali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Goswami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619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Project Description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72067" y="2675467"/>
            <a:ext cx="7408333" cy="2193693"/>
          </a:xfrm>
        </p:spPr>
        <p:txBody>
          <a:bodyPr/>
          <a:lstStyle/>
          <a:p>
            <a:pPr marL="0" indent="0" algn="just">
              <a:buNone/>
            </a:pPr>
            <a:r>
              <a:rPr lang="en-GB" dirty="0">
                <a:solidFill>
                  <a:schemeClr val="tx1"/>
                </a:solidFill>
              </a:rPr>
              <a:t>The undertaken project aims at designing a single phase 1kVA Transformer which has an automated 5% tap changer. The prime motive of this project is to explore the area of Machine Design with hands on experience which can further aid in research and development.</a:t>
            </a:r>
          </a:p>
        </p:txBody>
      </p:sp>
    </p:spTree>
    <p:extLst>
      <p:ext uri="{BB962C8B-B14F-4D97-AF65-F5344CB8AC3E}">
        <p14:creationId xmlns:p14="http://schemas.microsoft.com/office/powerpoint/2010/main" val="4288533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99592" y="2132856"/>
            <a:ext cx="7408333" cy="3450696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Rating:- 1KVA</a:t>
            </a:r>
          </a:p>
          <a:p>
            <a:r>
              <a:rPr lang="en-GB" dirty="0">
                <a:solidFill>
                  <a:schemeClr val="tx1"/>
                </a:solidFill>
              </a:rPr>
              <a:t>No load voltage ratio:- 230/120 volts</a:t>
            </a:r>
          </a:p>
          <a:p>
            <a:r>
              <a:rPr lang="en-GB" dirty="0">
                <a:solidFill>
                  <a:schemeClr val="tx1"/>
                </a:solidFill>
              </a:rPr>
              <a:t>Frequency:- 50 Hz</a:t>
            </a:r>
          </a:p>
          <a:p>
            <a:r>
              <a:rPr lang="en-GB" dirty="0">
                <a:solidFill>
                  <a:schemeClr val="tx1"/>
                </a:solidFill>
              </a:rPr>
              <a:t>Winding material:- </a:t>
            </a:r>
            <a:r>
              <a:rPr lang="en-GB" b="1" dirty="0">
                <a:solidFill>
                  <a:schemeClr val="bg1"/>
                </a:solidFill>
              </a:rPr>
              <a:t>Al</a:t>
            </a:r>
          </a:p>
          <a:p>
            <a:r>
              <a:rPr lang="en-GB" dirty="0">
                <a:solidFill>
                  <a:schemeClr val="tx1"/>
                </a:solidFill>
              </a:rPr>
              <a:t>Maximum flux density:- </a:t>
            </a:r>
            <a:r>
              <a:rPr lang="en-GB" b="1" dirty="0">
                <a:solidFill>
                  <a:schemeClr val="bg1"/>
                </a:solidFill>
              </a:rPr>
              <a:t>1.55 Tesla</a:t>
            </a:r>
          </a:p>
          <a:p>
            <a:r>
              <a:rPr lang="en-GB" dirty="0">
                <a:solidFill>
                  <a:schemeClr val="tx1"/>
                </a:solidFill>
              </a:rPr>
              <a:t>Maximum current density:- </a:t>
            </a:r>
            <a:r>
              <a:rPr lang="en-GB" b="1" dirty="0">
                <a:solidFill>
                  <a:schemeClr val="bg1"/>
                </a:solidFill>
              </a:rPr>
              <a:t>1.5 A</a:t>
            </a:r>
            <a:r>
              <a:rPr lang="en-GB" dirty="0">
                <a:solidFill>
                  <a:schemeClr val="bg1"/>
                </a:solidFill>
              </a:rPr>
              <a:t>/sq. mm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Proposed Specification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458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600A0E-2F3F-42DF-8E7B-A66F03844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833" y="2276872"/>
            <a:ext cx="7408333" cy="3450696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CORE DESIGN</a:t>
            </a:r>
          </a:p>
          <a:p>
            <a:r>
              <a:rPr lang="en-GB" dirty="0">
                <a:solidFill>
                  <a:schemeClr val="tx1"/>
                </a:solidFill>
              </a:rPr>
              <a:t>YOKE DESIGN</a:t>
            </a:r>
          </a:p>
          <a:p>
            <a:r>
              <a:rPr lang="en-GB" dirty="0">
                <a:solidFill>
                  <a:schemeClr val="tx1"/>
                </a:solidFill>
              </a:rPr>
              <a:t>WINDOW DESIGN</a:t>
            </a:r>
          </a:p>
          <a:p>
            <a:r>
              <a:rPr lang="en-GB" dirty="0">
                <a:solidFill>
                  <a:schemeClr val="tx1"/>
                </a:solidFill>
              </a:rPr>
              <a:t>OVERALL FRAME DESIGN</a:t>
            </a:r>
          </a:p>
          <a:p>
            <a:r>
              <a:rPr lang="en-GB" dirty="0">
                <a:solidFill>
                  <a:schemeClr val="tx1"/>
                </a:solidFill>
              </a:rPr>
              <a:t>WINDING DESIGN</a:t>
            </a:r>
            <a:br>
              <a:rPr lang="en-GB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84ECED-5B8A-46A0-8AC3-07AD4160B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Progress Overview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441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B3330E-A418-46B5-8D98-7E9449AFD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3652"/>
            <a:ext cx="7408333" cy="3450696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Turns per volt : 2</a:t>
            </a:r>
          </a:p>
          <a:p>
            <a:r>
              <a:rPr lang="en-GB" dirty="0">
                <a:solidFill>
                  <a:schemeClr val="tx1"/>
                </a:solidFill>
              </a:rPr>
              <a:t>Net iron area of core: 0.0726 sq. m</a:t>
            </a:r>
          </a:p>
          <a:p>
            <a:r>
              <a:rPr lang="en-GB" dirty="0">
                <a:solidFill>
                  <a:schemeClr val="tx1"/>
                </a:solidFill>
              </a:rPr>
              <a:t>Gross iron area of core: 0.0807 sq. m</a:t>
            </a:r>
          </a:p>
          <a:p>
            <a:r>
              <a:rPr lang="en-GB" dirty="0">
                <a:solidFill>
                  <a:schemeClr val="tx1"/>
                </a:solidFill>
              </a:rPr>
              <a:t>Height of outer limb: 0.2415 m</a:t>
            </a:r>
          </a:p>
          <a:p>
            <a:r>
              <a:rPr lang="en-GB" dirty="0">
                <a:solidFill>
                  <a:schemeClr val="tx1"/>
                </a:solidFill>
              </a:rPr>
              <a:t>Depth of yoke: 0.1506 m 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1D5615-15F4-4434-AA57-7C1DA0480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CORE DESIGN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388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6365FA-9810-4EDA-9D44-7A98DC8F0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988840"/>
            <a:ext cx="7408333" cy="3450696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Net yoke area: 0.0871 sq. m</a:t>
            </a:r>
          </a:p>
          <a:p>
            <a:r>
              <a:rPr lang="en-GB" dirty="0">
                <a:solidFill>
                  <a:schemeClr val="tx1"/>
                </a:solidFill>
              </a:rPr>
              <a:t>Gross yoke area: 0.0968 sq. m</a:t>
            </a:r>
          </a:p>
          <a:p>
            <a:r>
              <a:rPr lang="en-GB" dirty="0">
                <a:solidFill>
                  <a:schemeClr val="tx1"/>
                </a:solidFill>
              </a:rPr>
              <a:t>Yoke height: 0.4008 m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3D2B4F-D341-454A-B2C2-4C4717E45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YOKE DESIGN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420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A20228-E645-47C6-8E55-B0DA136FE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1916832"/>
            <a:ext cx="7408333" cy="3450696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Window area: 1.6139 x 10 -4</a:t>
            </a:r>
          </a:p>
          <a:p>
            <a:r>
              <a:rPr lang="en-GB" dirty="0">
                <a:solidFill>
                  <a:schemeClr val="tx1"/>
                </a:solidFill>
              </a:rPr>
              <a:t>Winding factor: 0.3307</a:t>
            </a:r>
          </a:p>
          <a:p>
            <a:r>
              <a:rPr lang="en-GB" dirty="0">
                <a:solidFill>
                  <a:schemeClr val="tx1"/>
                </a:solidFill>
              </a:rPr>
              <a:t>Window width:  7.3343 x 10 -3</a:t>
            </a:r>
          </a:p>
          <a:p>
            <a:r>
              <a:rPr lang="en-GB" dirty="0">
                <a:solidFill>
                  <a:schemeClr val="tx1"/>
                </a:solidFill>
              </a:rPr>
              <a:t>Window height: 0.220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2BF72E-288F-4347-9030-C6FBE00FF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WINDOW DESIGN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19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CE2716-1D4B-4B6D-90F4-7270CE235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833" y="1591056"/>
            <a:ext cx="7408333" cy="3450696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Overall width of the frame: 0.9807 m</a:t>
            </a:r>
          </a:p>
          <a:p>
            <a:r>
              <a:rPr lang="en-GB" dirty="0">
                <a:solidFill>
                  <a:schemeClr val="tx1"/>
                </a:solidFill>
              </a:rPr>
              <a:t>Overall height of the frame: 1.0216 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D3FBFC-6CA7-488E-9C81-25000AA7B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OVERALL FRAME DESIGN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836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F93C64-36B9-478F-8917-78E0B06A9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600" y="1703652"/>
            <a:ext cx="7408333" cy="3450696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Primary Current: 4.35 A</a:t>
            </a:r>
          </a:p>
          <a:p>
            <a:r>
              <a:rPr lang="en-GB" dirty="0">
                <a:solidFill>
                  <a:schemeClr val="tx1"/>
                </a:solidFill>
              </a:rPr>
              <a:t>Cross section area of Primary Winding: 2.905 sq. mm</a:t>
            </a:r>
          </a:p>
          <a:p>
            <a:r>
              <a:rPr lang="en-GB" dirty="0">
                <a:solidFill>
                  <a:schemeClr val="tx1"/>
                </a:solidFill>
              </a:rPr>
              <a:t>Diameter of the wire: 1.92 </a:t>
            </a:r>
            <a:r>
              <a:rPr lang="en-US" dirty="0">
                <a:solidFill>
                  <a:schemeClr val="tx1"/>
                </a:solidFill>
              </a:rPr>
              <a:t>~ 2 mm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Number of turns in Primary: 460</a:t>
            </a:r>
          </a:p>
          <a:p>
            <a:r>
              <a:rPr lang="en-GB" dirty="0">
                <a:solidFill>
                  <a:schemeClr val="tx1"/>
                </a:solidFill>
              </a:rPr>
              <a:t>Number of turns in Secondary: 240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CC80C9-1FDC-4579-B156-4290F1A62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WINDING DESIGN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219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55576" y="2204864"/>
            <a:ext cx="7408333" cy="3450696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calculation of Losses</a:t>
            </a:r>
          </a:p>
          <a:p>
            <a:r>
              <a:rPr lang="en-GB" b="1" dirty="0">
                <a:solidFill>
                  <a:schemeClr val="tx1"/>
                </a:solidFill>
              </a:rPr>
              <a:t>Efficiency</a:t>
            </a:r>
          </a:p>
          <a:p>
            <a:r>
              <a:rPr lang="en-GB" b="1" dirty="0">
                <a:solidFill>
                  <a:schemeClr val="tx1"/>
                </a:solidFill>
              </a:rPr>
              <a:t>On load Tap Changer</a:t>
            </a:r>
          </a:p>
          <a:p>
            <a:r>
              <a:rPr lang="en-GB" b="1" dirty="0">
                <a:solidFill>
                  <a:schemeClr val="tx1"/>
                </a:solidFill>
              </a:rPr>
              <a:t>Automated Cooling System</a:t>
            </a:r>
          </a:p>
          <a:p>
            <a:r>
              <a:rPr lang="en-GB" b="1" dirty="0">
                <a:solidFill>
                  <a:schemeClr val="tx1"/>
                </a:solidFill>
              </a:rPr>
              <a:t>Cost Estimation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What’s next?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753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/>
                </a:solidFill>
              </a:rPr>
              <a:t>Refferences</a:t>
            </a:r>
            <a:r>
              <a:rPr lang="en-GB" dirty="0">
                <a:solidFill>
                  <a:schemeClr val="tx1"/>
                </a:solidFill>
              </a:rPr>
              <a:t>:</a:t>
            </a:r>
          </a:p>
          <a:p>
            <a:r>
              <a:rPr lang="en-GB" dirty="0">
                <a:solidFill>
                  <a:schemeClr val="tx1"/>
                </a:solidFill>
              </a:rPr>
              <a:t>1. Electrical Machine Design by AK </a:t>
            </a:r>
            <a:r>
              <a:rPr lang="en-GB" dirty="0" err="1">
                <a:solidFill>
                  <a:schemeClr val="tx1"/>
                </a:solidFill>
              </a:rPr>
              <a:t>Sawhney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r>
              <a:rPr lang="en-GB" dirty="0">
                <a:solidFill>
                  <a:schemeClr val="tx1"/>
                </a:solidFill>
              </a:rPr>
              <a:t>2. Design of Transformers by </a:t>
            </a:r>
            <a:r>
              <a:rPr lang="en-GB" dirty="0" err="1">
                <a:solidFill>
                  <a:schemeClr val="tx1"/>
                </a:solidFill>
              </a:rPr>
              <a:t>Indrajit</a:t>
            </a:r>
            <a:r>
              <a:rPr lang="en-GB" dirty="0">
                <a:solidFill>
                  <a:schemeClr val="tx1"/>
                </a:solidFill>
              </a:rPr>
              <a:t> Das Gupta.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1265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327</TotalTime>
  <Words>315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Candara</vt:lpstr>
      <vt:lpstr>Symbol</vt:lpstr>
      <vt:lpstr>Waveform</vt:lpstr>
      <vt:lpstr>Designing and Manufacturing of 1KVA Single phase Tapped Shell type Transformer</vt:lpstr>
      <vt:lpstr>Project Description</vt:lpstr>
      <vt:lpstr>Proposed Specification</vt:lpstr>
      <vt:lpstr>Progress Overview</vt:lpstr>
      <vt:lpstr>CORE DESIGN</vt:lpstr>
      <vt:lpstr>YOKE DESIGN</vt:lpstr>
      <vt:lpstr>WINDOW DESIGN</vt:lpstr>
      <vt:lpstr>OVERALL FRAME DESIGN</vt:lpstr>
      <vt:lpstr>WINDING DESIGN</vt:lpstr>
      <vt:lpstr>What’s next?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and Manufacturing of 5KVA Transformer</dc:title>
  <dc:creator>HP</dc:creator>
  <cp:lastModifiedBy>Knp213 K</cp:lastModifiedBy>
  <cp:revision>38</cp:revision>
  <dcterms:created xsi:type="dcterms:W3CDTF">2019-09-25T10:38:16Z</dcterms:created>
  <dcterms:modified xsi:type="dcterms:W3CDTF">2019-10-29T15:24:45Z</dcterms:modified>
</cp:coreProperties>
</file>